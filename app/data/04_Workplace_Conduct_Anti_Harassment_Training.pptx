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Workplace Conduct &amp; Respect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Policy ID HR-CONDUCT-2026 | Effective 1 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Every employee is expected to contribute to a respectful, inclusive and professional workplace.</a:t>
            </a:r>
          </a:p>
          <a:p>
            <a:pPr>
              <a:spcAft>
                <a:spcPts val="1800"/>
              </a:spcAft>
              <a:defRPr sz="2000"/>
            </a:pPr>
            <a:r>
              <a:t>This training summary supports the Employee Code of Conduct and Speak-Up Procedure.</a:t>
            </a:r>
          </a:p>
          <a:p>
            <a:pPr>
              <a:spcAft>
                <a:spcPts val="1800"/>
              </a:spcAft>
              <a:defRPr sz="2000"/>
            </a:pPr>
            <a:r>
              <a:t>Policy applies in offices, remote channels, business travel, client sites and company events.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Harassment and Discrimination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What is prohibited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Harassment includes unwelcome verbal, visual, physical or digital conduct that creates an intimidating, hostile or offensive environment.</a:t>
            </a:r>
          </a:p>
          <a:p>
            <a:pPr>
              <a:spcAft>
                <a:spcPts val="1800"/>
              </a:spcAft>
              <a:defRPr sz="2000"/>
            </a:pPr>
            <a:r>
              <a:t>Discrimination based on characteristics protected by applicable law is prohibited in hiring, pay, assignment, promotion, access to opportunities and separation decisions.</a:t>
            </a:r>
          </a:p>
          <a:p>
            <a:pPr>
              <a:spcAft>
                <a:spcPts val="1800"/>
              </a:spcAft>
              <a:defRPr sz="2000"/>
            </a:pPr>
            <a:r>
              <a:t>One serious incident may violate policy; repeated lower-level conduct may also become harassment.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Sexual Harassment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Examples and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Examples include unwelcome sexual comments, repeated requests for dates after refusal, inappropriate touching, sexual images, or conditioning a work benefit on sexual cooperation.</a:t>
            </a:r>
          </a:p>
          <a:p>
            <a:pPr>
              <a:spcAft>
                <a:spcPts val="1800"/>
              </a:spcAft>
              <a:defRPr sz="2000"/>
            </a:pPr>
            <a:r>
              <a:t>Employees may report concerns to their manager, People Operations, the designated Internal Committee channel where applicable, or the confidential ethics channel.</a:t>
            </a:r>
          </a:p>
          <a:p>
            <a:pPr>
              <a:spcAft>
                <a:spcPts val="1800"/>
              </a:spcAft>
              <a:defRPr sz="2000"/>
            </a:pPr>
            <a:r>
              <a:t>Reports should be handled promptly, sensitively and on a need-to-know basis.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Bullying, Retaliation and Bystanders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Expected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Bullying can include repeated humiliation, threats, deliberate exclusion, abusive messages, or misuse of authority.</a:t>
            </a:r>
          </a:p>
          <a:p>
            <a:pPr>
              <a:spcAft>
                <a:spcPts val="1800"/>
              </a:spcAft>
              <a:defRPr sz="2000"/>
            </a:pPr>
            <a:r>
              <a:t>Retaliation against a person who raises a concern, participates in an investigation, or supports another employee is prohibited.</a:t>
            </a:r>
          </a:p>
          <a:p>
            <a:pPr>
              <a:spcAft>
                <a:spcPts val="1800"/>
              </a:spcAft>
              <a:defRPr sz="2000"/>
            </a:pPr>
            <a:r>
              <a:t>Bystanders should intervene when safe, document what they observed, and report serious concerns through an approved channel.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Investigation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What employees can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Reports are triaged for immediate safety, conflict of interest, legal requirements and the appropriate investigation path.</a:t>
            </a:r>
          </a:p>
          <a:p>
            <a:pPr>
              <a:spcAft>
                <a:spcPts val="1800"/>
              </a:spcAft>
              <a:defRPr sz="2000"/>
            </a:pPr>
            <a:r>
              <a:t>The investigator may review records and interview the complainant, respondent and witnesses. Parties are expected to cooperate and preserve relevant information.</a:t>
            </a:r>
          </a:p>
          <a:p>
            <a:pPr>
              <a:spcAft>
                <a:spcPts val="1800"/>
              </a:spcAft>
              <a:defRPr sz="2000"/>
            </a:pPr>
            <a:r>
              <a:t>Findings use the applicable company standard and may result in coaching, warnings, reassignment, suspension, termination or other corrective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Scenarios and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Apply the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/>
            </a:pPr>
            <a:r>
              <a:t>Scenario: A colleague repeatedly comments on another employee's appearance after being asked to stop. This should be reported; repetition after a clear boundary may constitute harassment.</a:t>
            </a:r>
          </a:p>
          <a:p>
            <a:pPr>
              <a:spcAft>
                <a:spcPts val="1800"/>
              </a:spcAft>
              <a:defRPr sz="2000"/>
            </a:pPr>
            <a:r>
              <a:t>Scenario: A manager gives a poor rating because an employee participated as a witness in an investigation. This may be prohibited retaliation.</a:t>
            </a:r>
          </a:p>
          <a:p>
            <a:pPr>
              <a:spcAft>
                <a:spcPts val="1800"/>
              </a:spcAft>
              <a:defRPr sz="2000"/>
            </a:pPr>
            <a:r>
              <a:t>When uncertain, ask People Operations. Good-faith reports are encouraged even when an investigation does not substantiate a policy breach.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